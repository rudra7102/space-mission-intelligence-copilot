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14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3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54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8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69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6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4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80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0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09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98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48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279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979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519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8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B61B33-C0AD-4C5F-B342-99DF283AA79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1C4288-A631-428D-8A03-ED1D366C0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0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FA6E-AACA-7B18-10D0-8CC61CDA3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845575"/>
            <a:ext cx="8574622" cy="201615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i="1" dirty="0"/>
              <a:t>Space Mission Intelligence Copilot </a:t>
            </a:r>
            <a:br>
              <a:rPr lang="en-IN" sz="4000" b="1" i="1" dirty="0"/>
            </a:br>
            <a:br>
              <a:rPr lang="en-IN" sz="4000" b="1" i="1" dirty="0"/>
            </a:br>
            <a:r>
              <a:rPr lang="en-IN" sz="4000" b="1" i="1" dirty="0"/>
              <a:t>Grounded Tool-Using Agent with preference Alignment for Space Scientists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650EF-DD7B-125A-EDF7-396CE12BF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2016158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IN" sz="4500" b="1" dirty="0"/>
              <a:t>Team Members:</a:t>
            </a:r>
          </a:p>
          <a:p>
            <a:pPr algn="ctr"/>
            <a:r>
              <a:rPr lang="en-IN" sz="3400" b="1" dirty="0">
                <a:latin typeface="Bahnschrift" panose="020B0502040204020203" pitchFamily="34" charset="0"/>
              </a:rPr>
              <a:t>Keyur Pandya (202518019)</a:t>
            </a:r>
          </a:p>
          <a:p>
            <a:pPr algn="ctr"/>
            <a:r>
              <a:rPr lang="en-IN" sz="3400" b="1" dirty="0">
                <a:latin typeface="Bahnschrift" panose="020B0502040204020203" pitchFamily="34" charset="0"/>
              </a:rPr>
              <a:t>Vishwa Patel (202518016)</a:t>
            </a:r>
          </a:p>
          <a:p>
            <a:pPr algn="ctr"/>
            <a:r>
              <a:rPr lang="en-IN" sz="3400" b="1" dirty="0">
                <a:latin typeface="Bahnschrift" panose="020B0502040204020203" pitchFamily="34" charset="0"/>
              </a:rPr>
              <a:t>Rudra Pandit (202518040)</a:t>
            </a:r>
          </a:p>
          <a:p>
            <a:pPr algn="ctr"/>
            <a:r>
              <a:rPr lang="en-IN" sz="3400" b="1" dirty="0" err="1">
                <a:latin typeface="Bahnschrift" panose="020B0502040204020203" pitchFamily="34" charset="0"/>
              </a:rPr>
              <a:t>Vrushil</a:t>
            </a:r>
            <a:r>
              <a:rPr lang="en-IN" sz="3400" b="1" dirty="0">
                <a:latin typeface="Bahnschrift" panose="020B0502040204020203" pitchFamily="34" charset="0"/>
              </a:rPr>
              <a:t> </a:t>
            </a:r>
            <a:r>
              <a:rPr lang="en-IN" sz="3400" b="1" dirty="0" err="1">
                <a:latin typeface="Bahnschrift" panose="020B0502040204020203" pitchFamily="34" charset="0"/>
              </a:rPr>
              <a:t>Panwala</a:t>
            </a:r>
            <a:r>
              <a:rPr lang="en-IN" sz="3400" b="1" dirty="0">
                <a:latin typeface="Bahnschrift" panose="020B0502040204020203" pitchFamily="34" charset="0"/>
              </a:rPr>
              <a:t> (202518010)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750004-20FD-E121-3ED5-B0BBFC6CDAD3}"/>
              </a:ext>
            </a:extLst>
          </p:cNvPr>
          <p:cNvSpPr/>
          <p:nvPr/>
        </p:nvSpPr>
        <p:spPr>
          <a:xfrm>
            <a:off x="4515377" y="3254477"/>
            <a:ext cx="6987645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DS – 615 Neural Networks and Deep Learning, May 2026</a:t>
            </a:r>
          </a:p>
        </p:txBody>
      </p:sp>
    </p:spTree>
    <p:extLst>
      <p:ext uri="{BB962C8B-B14F-4D97-AF65-F5344CB8AC3E}">
        <p14:creationId xmlns:p14="http://schemas.microsoft.com/office/powerpoint/2010/main" val="357525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B42-B375-382A-7F17-771B9413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04800"/>
            <a:ext cx="10018713" cy="688257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93A00E-59CA-24C3-315E-CEBBEBC86AE5}"/>
              </a:ext>
            </a:extLst>
          </p:cNvPr>
          <p:cNvSpPr/>
          <p:nvPr/>
        </p:nvSpPr>
        <p:spPr>
          <a:xfrm>
            <a:off x="1799303" y="1327355"/>
            <a:ext cx="4080387" cy="341179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Why General LLMs Fail?</a:t>
            </a:r>
          </a:p>
          <a:p>
            <a:pPr algn="ctr"/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Hallucinate mission Parameter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No source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Cannot access domain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No escalation awareness</a:t>
            </a:r>
          </a:p>
          <a:p>
            <a:pPr algn="ctr"/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4AD610-DA49-1870-0814-44A54962810F}"/>
              </a:ext>
            </a:extLst>
          </p:cNvPr>
          <p:cNvSpPr/>
          <p:nvPr/>
        </p:nvSpPr>
        <p:spPr>
          <a:xfrm>
            <a:off x="6971072" y="1344561"/>
            <a:ext cx="3864076" cy="339458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Our Goal</a:t>
            </a:r>
            <a:endParaRPr lang="en-IN" sz="2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Tool-augmented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Citation-first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Human escalation support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796B9B9-B744-116C-2823-A401B3DF8DF8}"/>
              </a:ext>
            </a:extLst>
          </p:cNvPr>
          <p:cNvSpPr/>
          <p:nvPr/>
        </p:nvSpPr>
        <p:spPr>
          <a:xfrm>
            <a:off x="6164826" y="2939846"/>
            <a:ext cx="619432" cy="688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28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3EA4C-192A-86CB-EBB3-34A4A7538E81}"/>
              </a:ext>
            </a:extLst>
          </p:cNvPr>
          <p:cNvSpPr txBox="1"/>
          <p:nvPr/>
        </p:nvSpPr>
        <p:spPr>
          <a:xfrm>
            <a:off x="4650658" y="373626"/>
            <a:ext cx="4886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Datasets &amp; Evaluation Metrics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C40406-32E5-D783-8D14-450F35DFD3CF}"/>
              </a:ext>
            </a:extLst>
          </p:cNvPr>
          <p:cNvSpPr/>
          <p:nvPr/>
        </p:nvSpPr>
        <p:spPr>
          <a:xfrm>
            <a:off x="1661653" y="1140542"/>
            <a:ext cx="4660489" cy="557488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Data Sources</a:t>
            </a:r>
          </a:p>
          <a:p>
            <a:pPr algn="ctr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SpaceX REST API</a:t>
            </a:r>
          </a:p>
          <a:p>
            <a:r>
              <a:rPr lang="en-IN" dirty="0">
                <a:latin typeface="Aptos" panose="020B0004020202020204" pitchFamily="34" charset="0"/>
              </a:rPr>
              <a:t>     (458 KB, 200+ launches)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NASA Exoplanet Archive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15 curated mission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ESA/NSA/ISRO policy docs</a:t>
            </a:r>
          </a:p>
          <a:p>
            <a:pPr algn="ctr"/>
            <a:endParaRPr lang="en-IN" dirty="0"/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Training Data</a:t>
            </a:r>
          </a:p>
          <a:p>
            <a:pPr algn="ctr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150 DPO preference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600 tool policy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80+ retriever contrastive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60+ reranked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45+ generator SFT triples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819F51-35D7-2EB8-93DB-1C1F044C2C87}"/>
              </a:ext>
            </a:extLst>
          </p:cNvPr>
          <p:cNvSpPr/>
          <p:nvPr/>
        </p:nvSpPr>
        <p:spPr>
          <a:xfrm>
            <a:off x="6921910" y="1140542"/>
            <a:ext cx="4581832" cy="557488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Evaluation Metrics</a:t>
            </a:r>
          </a:p>
          <a:p>
            <a:pPr algn="ctr"/>
            <a:endParaRPr lang="en-IN" dirty="0"/>
          </a:p>
          <a:p>
            <a:r>
              <a:rPr lang="en-IN" dirty="0"/>
              <a:t>M1  : Citation-F1</a:t>
            </a:r>
          </a:p>
          <a:p>
            <a:endParaRPr lang="en-IN" dirty="0"/>
          </a:p>
          <a:p>
            <a:r>
              <a:rPr lang="en-IN" dirty="0"/>
              <a:t>M2 : Keyword Grounding</a:t>
            </a:r>
          </a:p>
          <a:p>
            <a:endParaRPr lang="en-IN" dirty="0"/>
          </a:p>
          <a:p>
            <a:r>
              <a:rPr lang="en-IN" dirty="0"/>
              <a:t>M3 : Answer-in-KB Rate</a:t>
            </a:r>
          </a:p>
          <a:p>
            <a:endParaRPr lang="en-IN" dirty="0"/>
          </a:p>
          <a:p>
            <a:r>
              <a:rPr lang="en-IN" dirty="0"/>
              <a:t>M4 : Tool Selection Accuracy</a:t>
            </a:r>
          </a:p>
          <a:p>
            <a:endParaRPr lang="en-IN" dirty="0"/>
          </a:p>
          <a:p>
            <a:r>
              <a:rPr lang="en-IN" dirty="0"/>
              <a:t>M5 : Tool Call Success Rate</a:t>
            </a:r>
          </a:p>
          <a:p>
            <a:endParaRPr lang="en-IN" dirty="0"/>
          </a:p>
          <a:p>
            <a:r>
              <a:rPr lang="en-IN" dirty="0"/>
              <a:t>M6 : Escalation</a:t>
            </a:r>
          </a:p>
          <a:p>
            <a:endParaRPr lang="en-IN" dirty="0"/>
          </a:p>
          <a:p>
            <a:r>
              <a:rPr lang="en-IN" dirty="0"/>
              <a:t>M7 : Latency</a:t>
            </a:r>
          </a:p>
          <a:p>
            <a:endParaRPr lang="en-IN" dirty="0"/>
          </a:p>
          <a:p>
            <a:r>
              <a:rPr lang="en-IN" b="1" dirty="0">
                <a:solidFill>
                  <a:srgbClr val="FFFF00"/>
                </a:solidFill>
              </a:rPr>
              <a:t>M8 : Mission-Criticality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27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DDC22-17E4-5DA1-F265-A3A0D7DDABD6}"/>
              </a:ext>
            </a:extLst>
          </p:cNvPr>
          <p:cNvSpPr txBox="1"/>
          <p:nvPr/>
        </p:nvSpPr>
        <p:spPr>
          <a:xfrm>
            <a:off x="4365523" y="707922"/>
            <a:ext cx="4601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/>
              <a:t>Baseline : Naive RAG Agent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AF7DF-2E9C-BBB9-087B-7F52FAF29845}"/>
              </a:ext>
            </a:extLst>
          </p:cNvPr>
          <p:cNvSpPr/>
          <p:nvPr/>
        </p:nvSpPr>
        <p:spPr>
          <a:xfrm>
            <a:off x="2556386" y="1681317"/>
            <a:ext cx="1582995" cy="5309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Query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45524-448E-A71A-8F6F-D74166AEA457}"/>
              </a:ext>
            </a:extLst>
          </p:cNvPr>
          <p:cNvSpPr/>
          <p:nvPr/>
        </p:nvSpPr>
        <p:spPr>
          <a:xfrm>
            <a:off x="4945625" y="1681319"/>
            <a:ext cx="1582995" cy="5309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SearchKB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FB0E7-593B-DB31-2F03-0390FAEBEAE6}"/>
              </a:ext>
            </a:extLst>
          </p:cNvPr>
          <p:cNvSpPr/>
          <p:nvPr/>
        </p:nvSpPr>
        <p:spPr>
          <a:xfrm>
            <a:off x="7334864" y="1681317"/>
            <a:ext cx="1838633" cy="5309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Raw Passages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722B1B5-D260-188B-3A72-FBC1E5F791CE}"/>
              </a:ext>
            </a:extLst>
          </p:cNvPr>
          <p:cNvSpPr/>
          <p:nvPr/>
        </p:nvSpPr>
        <p:spPr>
          <a:xfrm>
            <a:off x="4277032" y="1897626"/>
            <a:ext cx="511278" cy="1671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251CF6E-94B5-BD7F-B5A6-389C8E8A0ED7}"/>
              </a:ext>
            </a:extLst>
          </p:cNvPr>
          <p:cNvSpPr/>
          <p:nvPr/>
        </p:nvSpPr>
        <p:spPr>
          <a:xfrm>
            <a:off x="6695768" y="1897626"/>
            <a:ext cx="471948" cy="1671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1A811E-8D44-40BA-D582-D3295D2B590A}"/>
              </a:ext>
            </a:extLst>
          </p:cNvPr>
          <p:cNvSpPr/>
          <p:nvPr/>
        </p:nvSpPr>
        <p:spPr>
          <a:xfrm>
            <a:off x="3972232" y="2812025"/>
            <a:ext cx="4739148" cy="346095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000" b="1" dirty="0">
                <a:solidFill>
                  <a:srgbClr val="FF0000"/>
                </a:solidFill>
              </a:rPr>
              <a:t>X </a:t>
            </a:r>
            <a:r>
              <a:rPr lang="en-IN" sz="2400" b="1" dirty="0">
                <a:solidFill>
                  <a:schemeClr val="tx2"/>
                </a:solidFill>
              </a:rPr>
              <a:t>Limitations</a:t>
            </a:r>
            <a:endParaRPr lang="en-IN" b="1" dirty="0">
              <a:solidFill>
                <a:schemeClr val="tx2"/>
              </a:solidFill>
            </a:endParaRPr>
          </a:p>
          <a:p>
            <a:pPr algn="ctr"/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Returns irrelevant data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No tool routing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Never escalates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No citations or formatting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Cannot compute statistics </a:t>
            </a:r>
          </a:p>
        </p:txBody>
      </p:sp>
    </p:spTree>
    <p:extLst>
      <p:ext uri="{BB962C8B-B14F-4D97-AF65-F5344CB8AC3E}">
        <p14:creationId xmlns:p14="http://schemas.microsoft.com/office/powerpoint/2010/main" val="16003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ACB31-C215-F8E0-D600-72AA5BC7281B}"/>
              </a:ext>
            </a:extLst>
          </p:cNvPr>
          <p:cNvSpPr txBox="1"/>
          <p:nvPr/>
        </p:nvSpPr>
        <p:spPr>
          <a:xfrm>
            <a:off x="4444180" y="452283"/>
            <a:ext cx="5083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  <a:cs typeface="Arial" panose="020B0604020202020204" pitchFamily="34" charset="0"/>
              </a:rPr>
              <a:t>PROPOSED SYSTEM OVERVIEW</a:t>
            </a:r>
            <a:endParaRPr lang="en-IN" b="1" dirty="0"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3CBB7-92EF-716B-A69C-E0DAE2C7B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29" y="1219200"/>
            <a:ext cx="8534400" cy="52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F7D08E-78C4-CA1B-6520-04E32A478185}"/>
              </a:ext>
            </a:extLst>
          </p:cNvPr>
          <p:cNvSpPr txBox="1"/>
          <p:nvPr/>
        </p:nvSpPr>
        <p:spPr>
          <a:xfrm>
            <a:off x="3352800" y="442452"/>
            <a:ext cx="7059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TRAINING &amp; WHAT IS LEARNED</a:t>
            </a:r>
            <a:endParaRPr lang="en-IN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243F63-ECE3-4A6D-F5A6-A2DD9EC86B1B}"/>
              </a:ext>
            </a:extLst>
          </p:cNvPr>
          <p:cNvSpPr/>
          <p:nvPr/>
        </p:nvSpPr>
        <p:spPr>
          <a:xfrm>
            <a:off x="2389239" y="1381434"/>
            <a:ext cx="2177845" cy="84581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Retriever</a:t>
            </a:r>
          </a:p>
          <a:p>
            <a:pPr algn="ctr"/>
            <a:r>
              <a:rPr lang="en-IN" dirty="0"/>
              <a:t>All-MiniLM-L6-v2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23A80A-D13A-B6D2-EA7A-19496DA484F8}"/>
              </a:ext>
            </a:extLst>
          </p:cNvPr>
          <p:cNvSpPr/>
          <p:nvPr/>
        </p:nvSpPr>
        <p:spPr>
          <a:xfrm>
            <a:off x="5083277" y="1396181"/>
            <a:ext cx="2104104" cy="83107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Reranker</a:t>
            </a:r>
            <a:endParaRPr lang="en-IN" dirty="0"/>
          </a:p>
          <a:p>
            <a:pPr algn="ctr"/>
            <a:r>
              <a:rPr lang="en-IN" dirty="0" err="1"/>
              <a:t>CrossEncoder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E59E6D-32ED-BD66-C068-91784EAE8B1D}"/>
              </a:ext>
            </a:extLst>
          </p:cNvPr>
          <p:cNvSpPr/>
          <p:nvPr/>
        </p:nvSpPr>
        <p:spPr>
          <a:xfrm>
            <a:off x="7624917" y="1386593"/>
            <a:ext cx="2394153" cy="84065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Generator</a:t>
            </a:r>
          </a:p>
          <a:p>
            <a:pPr algn="ctr"/>
            <a:r>
              <a:rPr lang="en-IN" dirty="0"/>
              <a:t>Mistral-7B </a:t>
            </a:r>
            <a:r>
              <a:rPr lang="en-IN" dirty="0" err="1"/>
              <a:t>QLoRA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47AC7F-02CD-55FD-CCD3-1B8B5C41A76E}"/>
              </a:ext>
            </a:extLst>
          </p:cNvPr>
          <p:cNvSpPr/>
          <p:nvPr/>
        </p:nvSpPr>
        <p:spPr>
          <a:xfrm>
            <a:off x="3736257" y="2556633"/>
            <a:ext cx="2104104" cy="84581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DPO</a:t>
            </a:r>
          </a:p>
          <a:p>
            <a:pPr algn="ctr"/>
            <a:r>
              <a:rPr lang="en-IN" dirty="0"/>
              <a:t>Preference Align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DC7D2F-17E1-5635-CEB4-BA6694A7F085}"/>
              </a:ext>
            </a:extLst>
          </p:cNvPr>
          <p:cNvSpPr/>
          <p:nvPr/>
        </p:nvSpPr>
        <p:spPr>
          <a:xfrm>
            <a:off x="6685935" y="2556633"/>
            <a:ext cx="2556388" cy="87236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Tool Policy</a:t>
            </a:r>
          </a:p>
          <a:p>
            <a:pPr algn="ctr"/>
            <a:r>
              <a:rPr lang="en-IN" dirty="0"/>
              <a:t>BERT Classifier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7DC0B9-957B-7EF8-9287-7932E9DB368E}"/>
              </a:ext>
            </a:extLst>
          </p:cNvPr>
          <p:cNvSpPr/>
          <p:nvPr/>
        </p:nvSpPr>
        <p:spPr>
          <a:xfrm>
            <a:off x="2674374" y="3717086"/>
            <a:ext cx="7826478" cy="286069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DPO ALIGNMENT RUBRIC</a:t>
            </a:r>
          </a:p>
          <a:p>
            <a:pPr algn="ctr"/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Helpfulness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Conciseness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Citation-first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Escalation-aware</a:t>
            </a:r>
          </a:p>
        </p:txBody>
      </p:sp>
    </p:spTree>
    <p:extLst>
      <p:ext uri="{BB962C8B-B14F-4D97-AF65-F5344CB8AC3E}">
        <p14:creationId xmlns:p14="http://schemas.microsoft.com/office/powerpoint/2010/main" val="344679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E98CC-518E-1FAD-744E-109B2AC4667E}"/>
              </a:ext>
            </a:extLst>
          </p:cNvPr>
          <p:cNvSpPr txBox="1"/>
          <p:nvPr/>
        </p:nvSpPr>
        <p:spPr>
          <a:xfrm>
            <a:off x="3519948" y="68825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MAIN RESULTS : BASELINE VS COPILOT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745BBF-BB89-83E1-94B0-C630FC229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475448"/>
              </p:ext>
            </p:extLst>
          </p:nvPr>
        </p:nvGraphicFramePr>
        <p:xfrm>
          <a:off x="2031999" y="754072"/>
          <a:ext cx="8822812" cy="469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3047966253"/>
                    </a:ext>
                  </a:extLst>
                </a:gridCol>
                <a:gridCol w="2205703">
                  <a:extLst>
                    <a:ext uri="{9D8B030D-6E8A-4147-A177-3AD203B41FA5}">
                      <a16:colId xmlns:a16="http://schemas.microsoft.com/office/drawing/2014/main" val="1022983493"/>
                    </a:ext>
                  </a:extLst>
                </a:gridCol>
                <a:gridCol w="2205703">
                  <a:extLst>
                    <a:ext uri="{9D8B030D-6E8A-4147-A177-3AD203B41FA5}">
                      <a16:colId xmlns:a16="http://schemas.microsoft.com/office/drawing/2014/main" val="3488928081"/>
                    </a:ext>
                  </a:extLst>
                </a:gridCol>
                <a:gridCol w="2205703">
                  <a:extLst>
                    <a:ext uri="{9D8B030D-6E8A-4147-A177-3AD203B41FA5}">
                      <a16:colId xmlns:a16="http://schemas.microsoft.com/office/drawing/2014/main" val="2901424974"/>
                    </a:ext>
                  </a:extLst>
                </a:gridCol>
              </a:tblGrid>
              <a:tr h="4232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21035"/>
                  </a:ext>
                </a:extLst>
              </a:tr>
              <a:tr h="423269">
                <a:tc>
                  <a:txBody>
                    <a:bodyPr/>
                    <a:lstStyle/>
                    <a:p>
                      <a:r>
                        <a:rPr lang="en-IN" dirty="0"/>
                        <a:t>Citation-F1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497176"/>
                  </a:ext>
                </a:extLst>
              </a:tr>
              <a:tr h="599985">
                <a:tc>
                  <a:txBody>
                    <a:bodyPr/>
                    <a:lstStyle/>
                    <a:p>
                      <a:r>
                        <a:rPr lang="en-IN" dirty="0"/>
                        <a:t>Keyword Grounding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381609"/>
                  </a:ext>
                </a:extLst>
              </a:tr>
              <a:tr h="423269">
                <a:tc>
                  <a:txBody>
                    <a:bodyPr/>
                    <a:lstStyle/>
                    <a:p>
                      <a:r>
                        <a:rPr lang="en-IN" dirty="0"/>
                        <a:t>Answer-in-KB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8576"/>
                  </a:ext>
                </a:extLst>
              </a:tr>
              <a:tr h="423269">
                <a:tc>
                  <a:txBody>
                    <a:bodyPr/>
                    <a:lstStyle/>
                    <a:p>
                      <a:r>
                        <a:rPr lang="en-IN" dirty="0"/>
                        <a:t>Tool Selection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005794"/>
                  </a:ext>
                </a:extLst>
              </a:tr>
              <a:tr h="599985">
                <a:tc>
                  <a:txBody>
                    <a:bodyPr/>
                    <a:lstStyle/>
                    <a:p>
                      <a:r>
                        <a:rPr lang="en-IN" dirty="0"/>
                        <a:t>Escalation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90999"/>
                  </a:ext>
                </a:extLst>
              </a:tr>
              <a:tr h="599985">
                <a:tc>
                  <a:txBody>
                    <a:bodyPr/>
                    <a:lstStyle/>
                    <a:p>
                      <a:r>
                        <a:rPr lang="en-IN" dirty="0"/>
                        <a:t>Escalation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27103"/>
                  </a:ext>
                </a:extLst>
              </a:tr>
              <a:tr h="599985">
                <a:tc>
                  <a:txBody>
                    <a:bodyPr/>
                    <a:lstStyle/>
                    <a:p>
                      <a:r>
                        <a:rPr lang="en-IN" dirty="0"/>
                        <a:t>MCA (Novel)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75004"/>
                  </a:ext>
                </a:extLst>
              </a:tr>
              <a:tr h="599985">
                <a:tc>
                  <a:txBody>
                    <a:bodyPr/>
                    <a:lstStyle/>
                    <a:p>
                      <a:r>
                        <a:rPr lang="en-IN" dirty="0" err="1"/>
                        <a:t>Avg</a:t>
                      </a:r>
                      <a:r>
                        <a:rPr lang="en-IN" dirty="0"/>
                        <a:t>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+4.3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224937"/>
                  </a:ext>
                </a:extLst>
              </a:tr>
            </a:tbl>
          </a:graphicData>
        </a:graphic>
      </p:graphicFrame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492F94D-F6D8-7564-1903-E20DAEE588A4}"/>
              </a:ext>
            </a:extLst>
          </p:cNvPr>
          <p:cNvSpPr/>
          <p:nvPr/>
        </p:nvSpPr>
        <p:spPr>
          <a:xfrm>
            <a:off x="9497962" y="845574"/>
            <a:ext cx="334296" cy="15731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F8FEC-69E8-92D5-146D-FC7797D632C0}"/>
              </a:ext>
            </a:extLst>
          </p:cNvPr>
          <p:cNvSpPr/>
          <p:nvPr/>
        </p:nvSpPr>
        <p:spPr>
          <a:xfrm>
            <a:off x="3690372" y="5889523"/>
            <a:ext cx="5984570" cy="58993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Copilot improves all functional metrics</a:t>
            </a:r>
          </a:p>
          <a:p>
            <a:pPr algn="ctr"/>
            <a:r>
              <a:rPr lang="en-US" dirty="0"/>
              <a:t>with only +4.3 </a:t>
            </a:r>
            <a:r>
              <a:rPr lang="en-US" dirty="0" err="1"/>
              <a:t>ms</a:t>
            </a:r>
            <a:r>
              <a:rPr lang="en-US" dirty="0"/>
              <a:t> latency overhead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09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7521CD-EE39-4098-E16B-EE4E87B60250}"/>
              </a:ext>
            </a:extLst>
          </p:cNvPr>
          <p:cNvSpPr txBox="1"/>
          <p:nvPr/>
        </p:nvSpPr>
        <p:spPr>
          <a:xfrm>
            <a:off x="3323303" y="393290"/>
            <a:ext cx="5447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ABLATION STUDY : COMPONENT IMPACT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800C87-AE5C-7D9E-4327-CDFD7A7BD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379382"/>
              </p:ext>
            </p:extLst>
          </p:nvPr>
        </p:nvGraphicFramePr>
        <p:xfrm>
          <a:off x="2031999" y="1234438"/>
          <a:ext cx="8675332" cy="332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833">
                  <a:extLst>
                    <a:ext uri="{9D8B030D-6E8A-4147-A177-3AD203B41FA5}">
                      <a16:colId xmlns:a16="http://schemas.microsoft.com/office/drawing/2014/main" val="228072365"/>
                    </a:ext>
                  </a:extLst>
                </a:gridCol>
                <a:gridCol w="2168833">
                  <a:extLst>
                    <a:ext uri="{9D8B030D-6E8A-4147-A177-3AD203B41FA5}">
                      <a16:colId xmlns:a16="http://schemas.microsoft.com/office/drawing/2014/main" val="3642255407"/>
                    </a:ext>
                  </a:extLst>
                </a:gridCol>
                <a:gridCol w="2168833">
                  <a:extLst>
                    <a:ext uri="{9D8B030D-6E8A-4147-A177-3AD203B41FA5}">
                      <a16:colId xmlns:a16="http://schemas.microsoft.com/office/drawing/2014/main" val="2788607539"/>
                    </a:ext>
                  </a:extLst>
                </a:gridCol>
                <a:gridCol w="2168833">
                  <a:extLst>
                    <a:ext uri="{9D8B030D-6E8A-4147-A177-3AD203B41FA5}">
                      <a16:colId xmlns:a16="http://schemas.microsoft.com/office/drawing/2014/main" val="1891360422"/>
                    </a:ext>
                  </a:extLst>
                </a:gridCol>
              </a:tblGrid>
              <a:tr h="4938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Tool Acc.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Esc. 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595540"/>
                  </a:ext>
                </a:extLst>
              </a:tr>
              <a:tr h="4938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Full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643124"/>
                  </a:ext>
                </a:extLst>
              </a:tr>
              <a:tr h="4938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-Remove 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262144"/>
                  </a:ext>
                </a:extLst>
              </a:tr>
              <a:tr h="4938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-Remove Tool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74073"/>
                  </a:ext>
                </a:extLst>
              </a:tr>
              <a:tr h="67624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-Remove Relevance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81544"/>
                  </a:ext>
                </a:extLst>
              </a:tr>
              <a:tr h="67624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Baseline (all removed)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809166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6E9E1F-3CE8-8B7E-F466-40DEB655CE5D}"/>
              </a:ext>
            </a:extLst>
          </p:cNvPr>
          <p:cNvSpPr/>
          <p:nvPr/>
        </p:nvSpPr>
        <p:spPr>
          <a:xfrm>
            <a:off x="2556387" y="5003204"/>
            <a:ext cx="7236541" cy="16139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Key Findings</a:t>
            </a:r>
          </a:p>
          <a:p>
            <a:pPr algn="ctr"/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Tool Router is the most important component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DPO improves escalation behavior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Relevance Guard 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45573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66BC5-DF0E-495B-B6B9-F15ACADE1829}"/>
              </a:ext>
            </a:extLst>
          </p:cNvPr>
          <p:cNvSpPr txBox="1"/>
          <p:nvPr/>
        </p:nvSpPr>
        <p:spPr>
          <a:xfrm>
            <a:off x="3932903" y="206476"/>
            <a:ext cx="4513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FAILURE CASES AND LIMITATIONS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47DD41-5A80-99DD-010E-263148FF0DA5}"/>
              </a:ext>
            </a:extLst>
          </p:cNvPr>
          <p:cNvSpPr/>
          <p:nvPr/>
        </p:nvSpPr>
        <p:spPr>
          <a:xfrm>
            <a:off x="2054942" y="1002890"/>
            <a:ext cx="2644877" cy="41983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Ambiguous Queries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Problem</a:t>
            </a:r>
            <a:r>
              <a:rPr lang="en-IN" dirty="0"/>
              <a:t> : </a:t>
            </a:r>
            <a:r>
              <a:rPr lang="en-IN" dirty="0">
                <a:solidFill>
                  <a:srgbClr val="C00000"/>
                </a:solidFill>
              </a:rPr>
              <a:t>Routes to SearchKB with limited Apollo data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Effect</a:t>
            </a:r>
            <a:r>
              <a:rPr lang="en-IN" dirty="0"/>
              <a:t> : </a:t>
            </a:r>
            <a:r>
              <a:rPr lang="en-IN" dirty="0">
                <a:solidFill>
                  <a:srgbClr val="FFFF00"/>
                </a:solidFill>
              </a:rPr>
              <a:t>Returns partially relevant results.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Fix</a:t>
            </a:r>
            <a:r>
              <a:rPr lang="en-IN" dirty="0"/>
              <a:t> :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Stricter relevance threshold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045FEF-58D4-653A-F374-B560BF241D44}"/>
              </a:ext>
            </a:extLst>
          </p:cNvPr>
          <p:cNvSpPr/>
          <p:nvPr/>
        </p:nvSpPr>
        <p:spPr>
          <a:xfrm>
            <a:off x="5245510" y="1002890"/>
            <a:ext cx="2644877" cy="41983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Keyword Overlap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Problem</a:t>
            </a:r>
            <a:r>
              <a:rPr lang="en-IN" dirty="0"/>
              <a:t> : </a:t>
            </a:r>
            <a:r>
              <a:rPr lang="en-US" dirty="0">
                <a:solidFill>
                  <a:srgbClr val="FF0000"/>
                </a:solidFill>
              </a:rPr>
              <a:t>"SpaceX" triggers Falcon 9 stats instead of Dragon capsule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Effect</a:t>
            </a:r>
            <a:r>
              <a:rPr lang="en-US" dirty="0"/>
              <a:t> : </a:t>
            </a:r>
            <a:r>
              <a:rPr lang="en-US" dirty="0">
                <a:solidFill>
                  <a:srgbClr val="FFFF00"/>
                </a:solidFill>
              </a:rPr>
              <a:t>Returns incorrect entity results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Fix 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Entity extraction before routing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BFADE3-B957-14E0-96FA-48DD99235148}"/>
              </a:ext>
            </a:extLst>
          </p:cNvPr>
          <p:cNvSpPr/>
          <p:nvPr/>
        </p:nvSpPr>
        <p:spPr>
          <a:xfrm>
            <a:off x="8627806" y="1002890"/>
            <a:ext cx="2644877" cy="419837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Training Data Scale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Problem</a:t>
            </a:r>
            <a:r>
              <a:rPr lang="en-IN" dirty="0"/>
              <a:t> : </a:t>
            </a:r>
            <a:r>
              <a:rPr lang="en-IN" dirty="0">
                <a:solidFill>
                  <a:srgbClr val="FF0000"/>
                </a:solidFill>
              </a:rPr>
              <a:t>Synthetic templates may not match real queries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Effect</a:t>
            </a:r>
            <a:r>
              <a:rPr lang="en-IN" dirty="0"/>
              <a:t> : </a:t>
            </a:r>
            <a:r>
              <a:rPr lang="en-IN" dirty="0">
                <a:solidFill>
                  <a:srgbClr val="FFFF00"/>
                </a:solidFill>
              </a:rPr>
              <a:t>Limited real world generalization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/>
                </a:solidFill>
              </a:rPr>
              <a:t>Fix</a:t>
            </a:r>
            <a:r>
              <a:rPr lang="en-IN" dirty="0"/>
              <a:t> : </a:t>
            </a:r>
            <a:r>
              <a:rPr lang="en-IN" dirty="0">
                <a:solidFill>
                  <a:srgbClr val="7030A0"/>
                </a:solidFill>
              </a:rPr>
              <a:t>Use realistic dialogue datasets</a:t>
            </a:r>
          </a:p>
        </p:txBody>
      </p:sp>
    </p:spTree>
    <p:extLst>
      <p:ext uri="{BB962C8B-B14F-4D97-AF65-F5344CB8AC3E}">
        <p14:creationId xmlns:p14="http://schemas.microsoft.com/office/powerpoint/2010/main" val="169241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885B14-D4EC-CAD1-3DD7-AE59A26DAB75}"/>
              </a:ext>
            </a:extLst>
          </p:cNvPr>
          <p:cNvSpPr txBox="1"/>
          <p:nvPr/>
        </p:nvSpPr>
        <p:spPr>
          <a:xfrm>
            <a:off x="3618271" y="403123"/>
            <a:ext cx="5348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 &amp; FUTURE WORK</a:t>
            </a:r>
            <a:endParaRPr lang="en-IN" sz="24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B2C12F-B70F-2C92-D388-D5F4C7A48397}"/>
              </a:ext>
            </a:extLst>
          </p:cNvPr>
          <p:cNvSpPr/>
          <p:nvPr/>
        </p:nvSpPr>
        <p:spPr>
          <a:xfrm>
            <a:off x="2300747" y="1327355"/>
            <a:ext cx="3893575" cy="40017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Key Takeaways</a:t>
            </a:r>
          </a:p>
          <a:p>
            <a:pPr algn="ctr"/>
            <a:endParaRPr lang="en-IN" dirty="0"/>
          </a:p>
          <a:p>
            <a:r>
              <a:rPr lang="en-US" dirty="0"/>
              <a:t>• Tool routing is most impactful</a:t>
            </a:r>
          </a:p>
          <a:p>
            <a:endParaRPr lang="en-US" dirty="0"/>
          </a:p>
          <a:p>
            <a:r>
              <a:rPr lang="en-US" dirty="0"/>
              <a:t>• +85% tool accuracy improvement</a:t>
            </a:r>
          </a:p>
          <a:p>
            <a:endParaRPr lang="en-US" dirty="0"/>
          </a:p>
          <a:p>
            <a:r>
              <a:rPr lang="en-US" dirty="0"/>
              <a:t>• Relevance guard prevents hallucination</a:t>
            </a:r>
          </a:p>
          <a:p>
            <a:endParaRPr lang="en-US" dirty="0"/>
          </a:p>
          <a:p>
            <a:r>
              <a:rPr lang="en-US" dirty="0"/>
              <a:t>• Google fallback handles missing KB data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32BBAA-91CF-B81C-19B4-7EE851CA1A19}"/>
              </a:ext>
            </a:extLst>
          </p:cNvPr>
          <p:cNvSpPr/>
          <p:nvPr/>
        </p:nvSpPr>
        <p:spPr>
          <a:xfrm>
            <a:off x="6985818" y="1514168"/>
            <a:ext cx="3893575" cy="357894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Next Steps </a:t>
            </a:r>
          </a:p>
          <a:p>
            <a:pPr algn="ctr"/>
            <a:endParaRPr lang="en-IN" dirty="0"/>
          </a:p>
          <a:p>
            <a:endParaRPr lang="en-US" dirty="0"/>
          </a:p>
          <a:p>
            <a:r>
              <a:rPr lang="en-US" dirty="0"/>
              <a:t>• Learned BERT router</a:t>
            </a:r>
          </a:p>
          <a:p>
            <a:endParaRPr lang="en-US" dirty="0"/>
          </a:p>
          <a:p>
            <a:r>
              <a:rPr lang="en-US" dirty="0"/>
              <a:t>• Real-time telemetry integration</a:t>
            </a:r>
          </a:p>
          <a:p>
            <a:endParaRPr lang="en-US" dirty="0"/>
          </a:p>
          <a:p>
            <a:r>
              <a:rPr lang="en-US" dirty="0"/>
              <a:t>• Automated KB scaling</a:t>
            </a:r>
          </a:p>
          <a:p>
            <a:endParaRPr lang="en-US" dirty="0"/>
          </a:p>
          <a:p>
            <a:r>
              <a:rPr lang="en-US" dirty="0"/>
              <a:t>• Multi-turn conversations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174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7910-D788-1494-4720-7AD36535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9374"/>
          </a:xfrm>
        </p:spPr>
        <p:txBody>
          <a:bodyPr>
            <a:normAutofit/>
          </a:bodyPr>
          <a:lstStyle/>
          <a:p>
            <a:r>
              <a:rPr lang="en-US" sz="3200" b="1" dirty="0"/>
              <a:t>Tool Schema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A967-3B6B-1022-B801-A0EB54E6A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336025"/>
          </a:xfrm>
        </p:spPr>
        <p:txBody>
          <a:bodyPr>
            <a:normAutofit/>
          </a:bodyPr>
          <a:lstStyle/>
          <a:p>
            <a:r>
              <a:rPr lang="en-US" b="1" dirty="0" err="1"/>
              <a:t>SearchKB</a:t>
            </a:r>
            <a:r>
              <a:rPr lang="en-US" b="1" dirty="0"/>
              <a:t>(query, </a:t>
            </a:r>
            <a:r>
              <a:rPr lang="en-US" b="1" dirty="0" err="1"/>
              <a:t>top_k</a:t>
            </a:r>
            <a:r>
              <a:rPr lang="en-US" b="1" dirty="0"/>
              <a:t>) → {passages: [{</a:t>
            </a:r>
            <a:r>
              <a:rPr lang="en-US" b="1" dirty="0" err="1"/>
              <a:t>doc_id</a:t>
            </a:r>
            <a:r>
              <a:rPr lang="en-US" b="1" dirty="0"/>
              <a:t>, title, text, score}]}</a:t>
            </a:r>
          </a:p>
          <a:p>
            <a:r>
              <a:rPr lang="en-US" b="1" dirty="0" err="1"/>
              <a:t>ComputeSuccessRate</a:t>
            </a:r>
            <a:r>
              <a:rPr lang="en-US" b="1" dirty="0"/>
              <a:t>(</a:t>
            </a:r>
            <a:r>
              <a:rPr lang="en-US" b="1" dirty="0" err="1"/>
              <a:t>launch_vehicle</a:t>
            </a:r>
            <a:r>
              <a:rPr lang="en-US" b="1" dirty="0"/>
              <a:t>) → {</a:t>
            </a:r>
            <a:r>
              <a:rPr lang="en-US" b="1" dirty="0" err="1"/>
              <a:t>success_rate</a:t>
            </a:r>
            <a:r>
              <a:rPr lang="en-US" b="1" dirty="0"/>
              <a:t>, </a:t>
            </a:r>
            <a:r>
              <a:rPr lang="en-US" b="1" dirty="0" err="1"/>
              <a:t>total_missions</a:t>
            </a:r>
            <a:r>
              <a:rPr lang="en-US" b="1" dirty="0"/>
              <a:t>, </a:t>
            </a:r>
            <a:r>
              <a:rPr lang="en-US" b="1" dirty="0" err="1"/>
              <a:t>failure_modes</a:t>
            </a:r>
            <a:r>
              <a:rPr lang="en-US" b="1" dirty="0"/>
              <a:t>}</a:t>
            </a:r>
          </a:p>
          <a:p>
            <a:r>
              <a:rPr lang="en-US" b="1" dirty="0" err="1"/>
              <a:t>GetLaunchWindow</a:t>
            </a:r>
            <a:r>
              <a:rPr lang="en-US" b="1" dirty="0"/>
              <a:t>(destination, mass) → {</a:t>
            </a:r>
            <a:r>
              <a:rPr lang="en-US" b="1" dirty="0" err="1"/>
              <a:t>optimal_windows</a:t>
            </a:r>
            <a:r>
              <a:rPr lang="en-US" b="1" dirty="0"/>
              <a:t>, </a:t>
            </a:r>
            <a:r>
              <a:rPr lang="en-US" b="1" dirty="0" err="1"/>
              <a:t>delta_v</a:t>
            </a:r>
            <a:r>
              <a:rPr lang="en-US" b="1" dirty="0"/>
              <a:t>, </a:t>
            </a:r>
            <a:r>
              <a:rPr lang="en-US" b="1" dirty="0" err="1"/>
              <a:t>risk_factors</a:t>
            </a:r>
            <a:r>
              <a:rPr lang="en-US" b="1" dirty="0"/>
              <a:t>}</a:t>
            </a:r>
          </a:p>
          <a:p>
            <a:r>
              <a:rPr lang="en-US" b="1" dirty="0" err="1"/>
              <a:t>GetPolicy</a:t>
            </a:r>
            <a:r>
              <a:rPr lang="en-US" b="1" dirty="0"/>
              <a:t>(agency, </a:t>
            </a:r>
            <a:r>
              <a:rPr lang="en-US" b="1" dirty="0" err="1"/>
              <a:t>section_id</a:t>
            </a:r>
            <a:r>
              <a:rPr lang="en-US" b="1" dirty="0"/>
              <a:t>) → {</a:t>
            </a:r>
            <a:r>
              <a:rPr lang="en-US" b="1" dirty="0" err="1"/>
              <a:t>policy_text</a:t>
            </a:r>
            <a:r>
              <a:rPr lang="en-US" b="1" dirty="0"/>
              <a:t>, </a:t>
            </a:r>
            <a:r>
              <a:rPr lang="en-US" b="1" dirty="0" err="1"/>
              <a:t>last_updated</a:t>
            </a:r>
            <a:r>
              <a:rPr lang="en-US" b="1" dirty="0"/>
              <a:t>}</a:t>
            </a:r>
          </a:p>
          <a:p>
            <a:r>
              <a:rPr lang="en-US" b="1" dirty="0" err="1"/>
              <a:t>CreateTicket</a:t>
            </a:r>
            <a:r>
              <a:rPr lang="en-US" b="1" dirty="0"/>
              <a:t>(summary, severity) → {</a:t>
            </a:r>
            <a:r>
              <a:rPr lang="en-US" b="1" dirty="0" err="1"/>
              <a:t>ticket_id</a:t>
            </a:r>
            <a:r>
              <a:rPr lang="en-US" b="1" dirty="0"/>
              <a:t>, status, </a:t>
            </a:r>
            <a:r>
              <a:rPr lang="en-US" b="1" dirty="0" err="1"/>
              <a:t>eta_hours</a:t>
            </a:r>
            <a:r>
              <a:rPr lang="en-US" b="1" dirty="0"/>
              <a:t>}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303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01AA-8AAC-BB8E-C000-F5357C83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05348"/>
          </a:xfrm>
        </p:spPr>
        <p:txBody>
          <a:bodyPr/>
          <a:lstStyle/>
          <a:p>
            <a:r>
              <a:rPr lang="en-US" b="1" dirty="0"/>
              <a:t>Extra Results (Additional Metrics / Latency)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A87ACD-456A-BC9A-1BE5-487CACEA4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135960"/>
              </p:ext>
            </p:extLst>
          </p:nvPr>
        </p:nvGraphicFramePr>
        <p:xfrm>
          <a:off x="1766529" y="1543665"/>
          <a:ext cx="9373419" cy="334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473">
                  <a:extLst>
                    <a:ext uri="{9D8B030D-6E8A-4147-A177-3AD203B41FA5}">
                      <a16:colId xmlns:a16="http://schemas.microsoft.com/office/drawing/2014/main" val="3779405796"/>
                    </a:ext>
                  </a:extLst>
                </a:gridCol>
                <a:gridCol w="3124473">
                  <a:extLst>
                    <a:ext uri="{9D8B030D-6E8A-4147-A177-3AD203B41FA5}">
                      <a16:colId xmlns:a16="http://schemas.microsoft.com/office/drawing/2014/main" val="2854291887"/>
                    </a:ext>
                  </a:extLst>
                </a:gridCol>
                <a:gridCol w="3124473">
                  <a:extLst>
                    <a:ext uri="{9D8B030D-6E8A-4147-A177-3AD203B41FA5}">
                      <a16:colId xmlns:a16="http://schemas.microsoft.com/office/drawing/2014/main" val="899757116"/>
                    </a:ext>
                  </a:extLst>
                </a:gridCol>
              </a:tblGrid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 (</a:t>
                      </a:r>
                      <a:r>
                        <a:rPr lang="en-US" sz="2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Queries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51918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SearchKB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410008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ComputeSuccessRate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91803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GetLaunchWindow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89854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GetPolicy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525297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CreateTicket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936121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OutOfScope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5643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EB1501-8C66-8D2F-E57A-5EC5641432EC}"/>
              </a:ext>
            </a:extLst>
          </p:cNvPr>
          <p:cNvSpPr txBox="1"/>
          <p:nvPr/>
        </p:nvSpPr>
        <p:spPr>
          <a:xfrm>
            <a:off x="1766529" y="5032024"/>
            <a:ext cx="9373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Courier New" panose="02070309020205020404" pitchFamily="49" charset="0"/>
              </a:rPr>
              <a:t>Throughput: ~44 queries/sec (direct) | ~18 queries/sec (HTTP API)</a:t>
            </a:r>
          </a:p>
          <a:p>
            <a:pPr algn="l">
              <a:buNone/>
            </a:pPr>
            <a:r>
              <a:rPr lang="en-US" b="1" i="0" dirty="0" err="1">
                <a:effectLst/>
                <a:latin typeface="Courier New" panose="02070309020205020404" pitchFamily="49" charset="0"/>
              </a:rPr>
              <a:t>SearchKB</a:t>
            </a:r>
            <a:r>
              <a:rPr lang="en-US" b="1" i="0" dirty="0">
                <a:effectLst/>
                <a:latin typeface="Courier New" panose="02070309020205020404" pitchFamily="49" charset="0"/>
              </a:rPr>
              <a:t> dominates latency due to </a:t>
            </a:r>
            <a:r>
              <a:rPr lang="en-US" b="1" i="0" dirty="0" err="1">
                <a:effectLst/>
                <a:latin typeface="Courier New" panose="02070309020205020404" pitchFamily="49" charset="0"/>
              </a:rPr>
              <a:t>ChromaDB</a:t>
            </a:r>
            <a:r>
              <a:rPr lang="en-US" b="1" i="0" dirty="0">
                <a:effectLst/>
                <a:latin typeface="Courier New" panose="02070309020205020404" pitchFamily="49" charset="0"/>
              </a:rPr>
              <a:t> vector search.</a:t>
            </a:r>
          </a:p>
          <a:p>
            <a:pPr algn="l">
              <a:buNone/>
            </a:pPr>
            <a:r>
              <a:rPr lang="en-US" b="1" i="0" dirty="0">
                <a:effectLst/>
                <a:latin typeface="Courier New" panose="02070309020205020404" pitchFamily="49" charset="0"/>
              </a:rPr>
              <a:t>Deterministic tools execute sub-millisecond.</a:t>
            </a:r>
          </a:p>
        </p:txBody>
      </p:sp>
    </p:spTree>
    <p:extLst>
      <p:ext uri="{BB962C8B-B14F-4D97-AF65-F5344CB8AC3E}">
        <p14:creationId xmlns:p14="http://schemas.microsoft.com/office/powerpoint/2010/main" val="268781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A38562-DBC3-BC38-597B-1544543A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22"/>
          <a:stretch>
            <a:fillRect/>
          </a:stretch>
        </p:blipFill>
        <p:spPr>
          <a:xfrm>
            <a:off x="1852837" y="419931"/>
            <a:ext cx="4243163" cy="2851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F08F51-1659-8E1A-3359-1E8B943C50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37"/>
          <a:stretch>
            <a:fillRect/>
          </a:stretch>
        </p:blipFill>
        <p:spPr>
          <a:xfrm>
            <a:off x="1852837" y="3271520"/>
            <a:ext cx="4243163" cy="3083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365763-D361-BC75-B02C-D7B629BC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61" y="419931"/>
            <a:ext cx="4053840" cy="593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553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213</TotalTime>
  <Words>666</Words>
  <Application>Microsoft Office PowerPoint</Application>
  <PresentationFormat>Widescreen</PresentationFormat>
  <Paragraphs>231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Bahnschrift</vt:lpstr>
      <vt:lpstr>Corbel</vt:lpstr>
      <vt:lpstr>Courier New</vt:lpstr>
      <vt:lpstr>Wingdings</vt:lpstr>
      <vt:lpstr>Parallax</vt:lpstr>
      <vt:lpstr>Space Mission Intelligence Copilot   Grounded Tool-Using Agent with preference Alignment for Space Scientists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 Schema</vt:lpstr>
      <vt:lpstr>Extra Results (Additional Metrics / Latency)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 kashyap</dc:creator>
  <cp:lastModifiedBy>pandya keyur</cp:lastModifiedBy>
  <cp:revision>2</cp:revision>
  <dcterms:created xsi:type="dcterms:W3CDTF">2026-05-11T17:29:36Z</dcterms:created>
  <dcterms:modified xsi:type="dcterms:W3CDTF">2026-05-12T15:03:43Z</dcterms:modified>
</cp:coreProperties>
</file>